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6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accent1"/>
                </a:solidFill>
              </a:rPr>
              <a:t>DOANH</a:t>
            </a:r>
            <a:r>
              <a:rPr lang="en-US" baseline="0" dirty="0">
                <a:solidFill>
                  <a:schemeClr val="accent1"/>
                </a:solidFill>
              </a:rPr>
              <a:t> THU THUẦN (</a:t>
            </a:r>
            <a:r>
              <a:rPr lang="en-US" baseline="0" dirty="0" err="1">
                <a:solidFill>
                  <a:schemeClr val="accent1"/>
                </a:solidFill>
              </a:rPr>
              <a:t>Tỷ</a:t>
            </a:r>
            <a:r>
              <a:rPr lang="en-US" baseline="0" dirty="0">
                <a:solidFill>
                  <a:schemeClr val="accent1"/>
                </a:solidFill>
              </a:rPr>
              <a:t> VND)</a:t>
            </a:r>
            <a:endParaRPr lang="en-US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4.1292937992125987E-2"/>
          <c:y val="1.40624991349348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T01</c:v>
                </c:pt>
                <c:pt idx="1">
                  <c:v>T02</c:v>
                </c:pt>
                <c:pt idx="2">
                  <c:v>T03</c:v>
                </c:pt>
                <c:pt idx="3">
                  <c:v>T04</c:v>
                </c:pt>
                <c:pt idx="4">
                  <c:v>T05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7.28</c:v>
                </c:pt>
                <c:pt idx="1">
                  <c:v>8.01</c:v>
                </c:pt>
                <c:pt idx="2">
                  <c:v>9.36</c:v>
                </c:pt>
                <c:pt idx="3">
                  <c:v>10.5</c:v>
                </c:pt>
                <c:pt idx="4">
                  <c:v>12.45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EE-44A0-9E24-C3F325F3B5D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76862160"/>
        <c:axId val="1076860240"/>
      </c:barChart>
      <c:catAx>
        <c:axId val="1076862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6860240"/>
        <c:crosses val="autoZero"/>
        <c:auto val="1"/>
        <c:lblAlgn val="ctr"/>
        <c:lblOffset val="100"/>
        <c:noMultiLvlLbl val="0"/>
      </c:catAx>
      <c:valAx>
        <c:axId val="10768602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68621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accent1"/>
                </a:solidFill>
              </a:rPr>
              <a:t>CƠ</a:t>
            </a:r>
            <a:r>
              <a:rPr lang="en-US" baseline="0" dirty="0">
                <a:solidFill>
                  <a:schemeClr val="accent1"/>
                </a:solidFill>
              </a:rPr>
              <a:t> CẤU CHI PHÍ (T5/2024)</a:t>
            </a:r>
            <a:endParaRPr lang="en-US" dirty="0">
              <a:solidFill>
                <a:schemeClr val="accent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Phí đối tác và ngân hàng</c:v>
                </c:pt>
                <c:pt idx="1">
                  <c:v>Chi phí vận hành</c:v>
                </c:pt>
                <c:pt idx="2">
                  <c:v>Chi phí marketing</c:v>
                </c:pt>
                <c:pt idx="3">
                  <c:v>Khác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0.46</c:v>
                </c:pt>
                <c:pt idx="1">
                  <c:v>0.28000000000000003</c:v>
                </c:pt>
                <c:pt idx="2">
                  <c:v>0.16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74-45E1-8C63-C90BCF7867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49E5F-1308-B5D4-A351-69A1739F0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903216-1DA7-DE26-5488-30D27CE10D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74615-533C-F946-4925-7D01FE55A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354E9-F905-48B0-BF58-647BD183F13D}" type="datetimeFigureOut">
              <a:rPr lang="en-US" smtClean="0"/>
              <a:t>26/10/26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E8467-B7E0-825E-512A-D8D0549A1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C1452-4C72-1B0F-5364-EEAAC7D5E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7E1F6-5157-4E36-8BA5-EA37FC47A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217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C11A4-3641-114F-46F4-75B2B7CC5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8580F-1F86-1544-AFD2-19E761F76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FADAF-E7BA-31A5-C70A-271C97A5D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354E9-F905-48B0-BF58-647BD183F13D}" type="datetimeFigureOut">
              <a:rPr lang="en-US" smtClean="0"/>
              <a:t>26/10/26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973D3-3FBA-FA4D-18A9-11C8FEE5B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0BD91-9CEB-A9A4-67DD-D081167A8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7E1F6-5157-4E36-8BA5-EA37FC47A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99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7D277-26D7-2E19-3FB2-F73F66A55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03B2C-C504-7A23-17F1-116414345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5C574-10E4-3403-45C0-0881DF169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354E9-F905-48B0-BF58-647BD183F13D}" type="datetimeFigureOut">
              <a:rPr lang="en-US" smtClean="0"/>
              <a:t>26/10/26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B502B-8438-182B-98B6-78EFBCF24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EDCBF-5FC7-3DC1-384B-B809974B3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7E1F6-5157-4E36-8BA5-EA37FC47A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698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2F2CD-46A1-65FF-E1BA-1AF5F156D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E5DA2-6161-E643-DA24-44CCE0402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762479-969A-88E1-5ED5-ACF58D4BDA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6C71AE-FA2A-8DEC-0D7C-36488830D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354E9-F905-48B0-BF58-647BD183F13D}" type="datetimeFigureOut">
              <a:rPr lang="en-US" smtClean="0"/>
              <a:t>26/10/26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76A0C-E9F8-F257-7DE2-8FB96C862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EEE42-ACF7-9827-5DCA-3BFDC330B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7E1F6-5157-4E36-8BA5-EA37FC47A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23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A3D91-1CE1-A46C-0D4D-B9FD45E27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D7BC9-2D1B-FFE9-34B3-80802543D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B44DE6-4BCB-42E9-BE90-A558C4BDE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64BCCC-242A-36AB-BA1C-55F50D96E1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F2DA80-8F7D-E646-2618-0CB9190F5A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E45FC6-FB4B-7E01-42EF-EAD297C72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354E9-F905-48B0-BF58-647BD183F13D}" type="datetimeFigureOut">
              <a:rPr lang="en-US" smtClean="0"/>
              <a:t>26/10/26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739452-9490-7997-C00C-D50F95B98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66BA73-1848-1386-5A8B-7D4338124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7E1F6-5157-4E36-8BA5-EA37FC47A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789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B3ACB-EDB8-E912-7A07-93BB51215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0CEF9A-B9F1-3884-7D23-4788231D9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354E9-F905-48B0-BF58-647BD183F13D}" type="datetimeFigureOut">
              <a:rPr lang="en-US" smtClean="0"/>
              <a:t>26/10/26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9EACC4-E85E-4705-08DE-05D6B3586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E917B9-4C49-BE6E-C619-E48A3ED7C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7E1F6-5157-4E36-8BA5-EA37FC47A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512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BF64BB-61AA-87E3-0CA4-510FF40DC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354E9-F905-48B0-BF58-647BD183F13D}" type="datetimeFigureOut">
              <a:rPr lang="en-US" smtClean="0"/>
              <a:t>26/10/26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98C81D-1148-3D20-68E5-E469640AE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CFAF6-5563-65D9-1316-BCE1DAA51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7E1F6-5157-4E36-8BA5-EA37FC47A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184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2684D-5DC7-E820-F2D2-DB3097FDF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E9CFD-3B9B-C047-D546-15DE02301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A7F354-759B-5353-A264-5AEBEB1DB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5E8DC-317B-000E-12A0-98570B8BA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354E9-F905-48B0-BF58-647BD183F13D}" type="datetimeFigureOut">
              <a:rPr lang="en-US" smtClean="0"/>
              <a:t>26/10/26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4F41B-0AE7-DC74-FC3D-7EEBA7140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42DC50-D9B5-1976-F584-F4E2AFD63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7E1F6-5157-4E36-8BA5-EA37FC47A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473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40178-DB73-3BA2-4E5B-B0D985DCF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1A716E-6680-058D-11D2-C58552DE0E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B08A82-F93C-3F4D-BC54-F35121229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19E30A-627B-3216-2E80-0BB78314E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354E9-F905-48B0-BF58-647BD183F13D}" type="datetimeFigureOut">
              <a:rPr lang="en-US" smtClean="0"/>
              <a:t>26/10/26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EA0705-6888-D4AA-09ED-B04A476A9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7DD804-0E5E-4389-977B-894E2F1D2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7E1F6-5157-4E36-8BA5-EA37FC47A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316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F64AF-3AC6-5A9C-AA79-C5010D547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D76EFF-7079-B43C-EB8E-943A37DE0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43712-FD34-22DB-CC77-0FBEDE091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354E9-F905-48B0-BF58-647BD183F13D}" type="datetimeFigureOut">
              <a:rPr lang="en-US" smtClean="0"/>
              <a:t>26/10/26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B9F62-5ADA-41A8-0C6D-05479DE40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06BA9-2CFC-0E5C-5DCC-DEEC6F0E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7E1F6-5157-4E36-8BA5-EA37FC47A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897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D4610F-235F-FAAB-F29D-81A5D2F057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08562-C8FD-93ED-03A5-72DE819A96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8198C-882C-466C-3310-8E7E1801A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354E9-F905-48B0-BF58-647BD183F13D}" type="datetimeFigureOut">
              <a:rPr lang="en-US" smtClean="0"/>
              <a:t>26/10/26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13C46-0BBC-763C-4029-512991E18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32F39-4463-6BA8-5BFA-409BDC5F3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7E1F6-5157-4E36-8BA5-EA37FC47A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513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4C574A-4B7A-68B3-B887-BE9B238F2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29880-0D56-3EBB-E11F-8B10750F2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9A50E-3788-D17E-CD0A-6A55C5EFC3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0354E9-F905-48B0-BF58-647BD183F13D}" type="datetimeFigureOut">
              <a:rPr lang="en-US" smtClean="0"/>
              <a:t>26/10/26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394E6-8A27-95FC-DFE3-DC6D96ADEB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F665C-89A0-20C0-AC99-E62925C120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F7E1F6-5157-4E36-8BA5-EA37FC47A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187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9616E3-8A7D-6642-9BE2-806EE84818A1}"/>
              </a:ext>
            </a:extLst>
          </p:cNvPr>
          <p:cNvSpPr txBox="1"/>
          <p:nvPr/>
        </p:nvSpPr>
        <p:spPr>
          <a:xfrm>
            <a:off x="704850" y="914400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ptos (Body)"/>
              </a:rPr>
              <a:t>Ví</a:t>
            </a:r>
            <a:r>
              <a:rPr lang="en-US" dirty="0">
                <a:latin typeface="Aptos (Body)"/>
              </a:rPr>
              <a:t> </a:t>
            </a:r>
            <a:r>
              <a:rPr lang="en-US" dirty="0" err="1">
                <a:latin typeface="Aptos (Body)"/>
              </a:rPr>
              <a:t>điện</a:t>
            </a:r>
            <a:r>
              <a:rPr lang="en-US" dirty="0">
                <a:latin typeface="Aptos (Body)"/>
              </a:rPr>
              <a:t> </a:t>
            </a:r>
            <a:r>
              <a:rPr lang="en-US" dirty="0" err="1">
                <a:latin typeface="Aptos (Body)"/>
              </a:rPr>
              <a:t>tử</a:t>
            </a:r>
            <a:r>
              <a:rPr lang="en-US" dirty="0">
                <a:latin typeface="Aptos (Body)"/>
              </a:rPr>
              <a:t> cho </a:t>
            </a:r>
            <a:r>
              <a:rPr lang="en-US" dirty="0" err="1">
                <a:latin typeface="Aptos (Body)"/>
              </a:rPr>
              <a:t>sinh</a:t>
            </a:r>
            <a:r>
              <a:rPr lang="en-US" dirty="0">
                <a:latin typeface="Aptos (Body)"/>
              </a:rPr>
              <a:t> </a:t>
            </a:r>
            <a:r>
              <a:rPr lang="en-US" dirty="0" err="1">
                <a:latin typeface="Aptos (Body)"/>
              </a:rPr>
              <a:t>viên</a:t>
            </a:r>
            <a:endParaRPr lang="en-US" dirty="0">
              <a:latin typeface="Aptos (Body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06A14B-B875-5A7A-2D0C-FAFD975F7AE1}"/>
              </a:ext>
            </a:extLst>
          </p:cNvPr>
          <p:cNvSpPr txBox="1"/>
          <p:nvPr/>
        </p:nvSpPr>
        <p:spPr>
          <a:xfrm>
            <a:off x="704850" y="197703"/>
            <a:ext cx="18144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>
                <a:solidFill>
                  <a:schemeClr val="tx2"/>
                </a:solidFill>
              </a:rPr>
              <a:t>Pay</a:t>
            </a:r>
            <a:r>
              <a:rPr lang="en-US" sz="48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KX</a:t>
            </a:r>
            <a:endParaRPr lang="en-US" sz="4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485A2C-3235-ADB1-5EAA-51B22228444C}"/>
              </a:ext>
            </a:extLst>
          </p:cNvPr>
          <p:cNvSpPr txBox="1"/>
          <p:nvPr/>
        </p:nvSpPr>
        <p:spPr>
          <a:xfrm>
            <a:off x="1612085" y="3114675"/>
            <a:ext cx="67637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chemeClr val="accent1">
                    <a:lumMod val="75000"/>
                  </a:schemeClr>
                </a:solidFill>
                <a:latin typeface="Aptos (Body)"/>
              </a:rPr>
              <a:t>BÁO CÁO LỖ LÃI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FBF731-DC61-F16A-838B-B63ED87BE3A8}"/>
              </a:ext>
            </a:extLst>
          </p:cNvPr>
          <p:cNvSpPr txBox="1"/>
          <p:nvPr/>
        </p:nvSpPr>
        <p:spPr>
          <a:xfrm>
            <a:off x="1612085" y="4095750"/>
            <a:ext cx="555472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 err="1">
                <a:solidFill>
                  <a:srgbClr val="00B0F0"/>
                </a:solidFill>
                <a:latin typeface="Aptos (Body)"/>
              </a:rPr>
              <a:t>Tháng</a:t>
            </a:r>
            <a:r>
              <a:rPr lang="en-US" sz="6600" dirty="0">
                <a:solidFill>
                  <a:srgbClr val="00B0F0"/>
                </a:solidFill>
                <a:latin typeface="Aptos (Body)"/>
              </a:rPr>
              <a:t> 05/2024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D8B4241-EF64-8167-3F06-F973A662E3AA}"/>
              </a:ext>
            </a:extLst>
          </p:cNvPr>
          <p:cNvCxnSpPr/>
          <p:nvPr/>
        </p:nvCxnSpPr>
        <p:spPr>
          <a:xfrm>
            <a:off x="1695450" y="5600700"/>
            <a:ext cx="14639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575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EDF0EF-03A2-F521-0B34-B7C5442857FE}"/>
              </a:ext>
            </a:extLst>
          </p:cNvPr>
          <p:cNvSpPr/>
          <p:nvPr/>
        </p:nvSpPr>
        <p:spPr>
          <a:xfrm>
            <a:off x="514350" y="676275"/>
            <a:ext cx="2671760" cy="56007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  <a:p>
            <a:pPr algn="ctr"/>
            <a:endParaRPr lang="en-US" sz="3200" dirty="0">
              <a:solidFill>
                <a:schemeClr val="tx1"/>
              </a:solidFill>
            </a:endParaRPr>
          </a:p>
          <a:p>
            <a:pPr algn="ctr"/>
            <a:r>
              <a:rPr lang="en-US" sz="3200" dirty="0">
                <a:solidFill>
                  <a:schemeClr val="tx1"/>
                </a:solidFill>
              </a:rPr>
              <a:t>DOANH THU THUẬN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BCD53D-DBE6-F540-AF6B-0BCFE652C0ED}"/>
              </a:ext>
            </a:extLst>
          </p:cNvPr>
          <p:cNvSpPr/>
          <p:nvPr/>
        </p:nvSpPr>
        <p:spPr>
          <a:xfrm>
            <a:off x="3374230" y="676275"/>
            <a:ext cx="2721769" cy="560070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  <a:p>
            <a:pPr algn="ctr"/>
            <a:endParaRPr lang="en-US" sz="3200" dirty="0">
              <a:solidFill>
                <a:schemeClr val="tx1"/>
              </a:solidFill>
            </a:endParaRPr>
          </a:p>
          <a:p>
            <a:pPr algn="ctr"/>
            <a:r>
              <a:rPr lang="en-US" sz="3200" dirty="0">
                <a:solidFill>
                  <a:schemeClr val="accent6"/>
                </a:solidFill>
              </a:rPr>
              <a:t>TỔNG CHI PHÍ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F40A4F-BD38-C842-E9C6-6B748653A865}"/>
              </a:ext>
            </a:extLst>
          </p:cNvPr>
          <p:cNvSpPr/>
          <p:nvPr/>
        </p:nvSpPr>
        <p:spPr>
          <a:xfrm>
            <a:off x="6284119" y="676275"/>
            <a:ext cx="2721768" cy="560070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3200" dirty="0">
              <a:solidFill>
                <a:schemeClr val="accent5"/>
              </a:solidFill>
            </a:endParaRPr>
          </a:p>
          <a:p>
            <a:pPr algn="ctr"/>
            <a:endParaRPr lang="en-US" sz="3200" dirty="0">
              <a:solidFill>
                <a:schemeClr val="accent5"/>
              </a:solidFill>
            </a:endParaRPr>
          </a:p>
          <a:p>
            <a:pPr algn="ctr"/>
            <a:r>
              <a:rPr lang="en-US" sz="3200" dirty="0">
                <a:solidFill>
                  <a:schemeClr val="accent5"/>
                </a:solidFill>
              </a:rPr>
              <a:t>LỢI NHUẬN GỘP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F84C81-11D8-D5C1-A033-2CFB3943435C}"/>
              </a:ext>
            </a:extLst>
          </p:cNvPr>
          <p:cNvSpPr/>
          <p:nvPr/>
        </p:nvSpPr>
        <p:spPr>
          <a:xfrm>
            <a:off x="9144000" y="676275"/>
            <a:ext cx="2721768" cy="56007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3200" dirty="0">
              <a:solidFill>
                <a:schemeClr val="accent2"/>
              </a:solidFill>
            </a:endParaRPr>
          </a:p>
          <a:p>
            <a:pPr algn="ctr"/>
            <a:endParaRPr lang="en-US" sz="3200" dirty="0">
              <a:solidFill>
                <a:schemeClr val="accent2"/>
              </a:solidFill>
            </a:endParaRPr>
          </a:p>
          <a:p>
            <a:pPr algn="ctr"/>
            <a:r>
              <a:rPr lang="en-US" sz="3200" dirty="0">
                <a:solidFill>
                  <a:schemeClr val="accent2"/>
                </a:solidFill>
              </a:rPr>
              <a:t>LỢI NHUẬN SAU THUẾ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0DBE88-B2EB-B560-5872-48472F4D9C79}"/>
              </a:ext>
            </a:extLst>
          </p:cNvPr>
          <p:cNvSpPr txBox="1"/>
          <p:nvPr/>
        </p:nvSpPr>
        <p:spPr>
          <a:xfrm>
            <a:off x="732776" y="2871253"/>
            <a:ext cx="223490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solidFill>
                  <a:schemeClr val="accent1"/>
                </a:solidFill>
              </a:rPr>
              <a:t>12,45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35F540-D6F4-BE11-1E34-F8D84A70A608}"/>
              </a:ext>
            </a:extLst>
          </p:cNvPr>
          <p:cNvSpPr txBox="1"/>
          <p:nvPr/>
        </p:nvSpPr>
        <p:spPr>
          <a:xfrm>
            <a:off x="1070067" y="3860720"/>
            <a:ext cx="14638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solidFill>
                  <a:schemeClr val="accent1"/>
                </a:solidFill>
              </a:rPr>
              <a:t>Tỷ</a:t>
            </a:r>
            <a:r>
              <a:rPr lang="en-US" sz="3200" dirty="0">
                <a:solidFill>
                  <a:schemeClr val="accent1"/>
                </a:solidFill>
              </a:rPr>
              <a:t> VND</a:t>
            </a: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8CDFF636-7A4E-5334-3751-78A4A9A39F19}"/>
              </a:ext>
            </a:extLst>
          </p:cNvPr>
          <p:cNvSpPr/>
          <p:nvPr/>
        </p:nvSpPr>
        <p:spPr>
          <a:xfrm>
            <a:off x="903620" y="4930379"/>
            <a:ext cx="600075" cy="517306"/>
          </a:xfrm>
          <a:prstGeom prst="triangl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F24689-6AD7-1DDE-4B11-F424BF04637D}"/>
              </a:ext>
            </a:extLst>
          </p:cNvPr>
          <p:cNvSpPr txBox="1"/>
          <p:nvPr/>
        </p:nvSpPr>
        <p:spPr>
          <a:xfrm>
            <a:off x="1572674" y="4986020"/>
            <a:ext cx="1250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+ 18,6%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2BDDC7-21E5-A13F-D0C5-E29C421A2B5D}"/>
              </a:ext>
            </a:extLst>
          </p:cNvPr>
          <p:cNvSpPr txBox="1"/>
          <p:nvPr/>
        </p:nvSpPr>
        <p:spPr>
          <a:xfrm>
            <a:off x="804910" y="5494178"/>
            <a:ext cx="20906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so với T4/2024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8DA875-0B54-0048-70DE-2AA8648B6014}"/>
              </a:ext>
            </a:extLst>
          </p:cNvPr>
          <p:cNvSpPr txBox="1"/>
          <p:nvPr/>
        </p:nvSpPr>
        <p:spPr>
          <a:xfrm>
            <a:off x="3791158" y="2886075"/>
            <a:ext cx="178286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solidFill>
                  <a:schemeClr val="accent6"/>
                </a:solidFill>
              </a:rPr>
              <a:t>7,28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E27D50-2F41-F012-CFE4-618B94A37363}"/>
              </a:ext>
            </a:extLst>
          </p:cNvPr>
          <p:cNvSpPr txBox="1"/>
          <p:nvPr/>
        </p:nvSpPr>
        <p:spPr>
          <a:xfrm>
            <a:off x="3950657" y="3860721"/>
            <a:ext cx="14638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solidFill>
                  <a:schemeClr val="accent6"/>
                </a:solidFill>
              </a:rPr>
              <a:t>Tỷ</a:t>
            </a:r>
            <a:r>
              <a:rPr lang="en-US" sz="3200" dirty="0">
                <a:solidFill>
                  <a:schemeClr val="accent6"/>
                </a:solidFill>
              </a:rPr>
              <a:t> VND</a:t>
            </a:r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DAE5C2AC-578D-C834-6A54-CF71F79FB692}"/>
              </a:ext>
            </a:extLst>
          </p:cNvPr>
          <p:cNvSpPr/>
          <p:nvPr/>
        </p:nvSpPr>
        <p:spPr>
          <a:xfrm>
            <a:off x="3711039" y="4895850"/>
            <a:ext cx="600075" cy="517306"/>
          </a:xfrm>
          <a:prstGeom prst="triangl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66F100-C552-097F-6E45-0568534B1328}"/>
              </a:ext>
            </a:extLst>
          </p:cNvPr>
          <p:cNvSpPr txBox="1"/>
          <p:nvPr/>
        </p:nvSpPr>
        <p:spPr>
          <a:xfrm>
            <a:off x="4405109" y="4986020"/>
            <a:ext cx="1250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+ 12,1%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4D5294-2A73-3077-7237-30A61A5400A7}"/>
              </a:ext>
            </a:extLst>
          </p:cNvPr>
          <p:cNvSpPr txBox="1"/>
          <p:nvPr/>
        </p:nvSpPr>
        <p:spPr>
          <a:xfrm>
            <a:off x="3565135" y="5494178"/>
            <a:ext cx="20906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so với T4/2024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03840E-E1C8-9B98-D622-44CF24106B1A}"/>
              </a:ext>
            </a:extLst>
          </p:cNvPr>
          <p:cNvSpPr txBox="1"/>
          <p:nvPr/>
        </p:nvSpPr>
        <p:spPr>
          <a:xfrm>
            <a:off x="6830920" y="2886075"/>
            <a:ext cx="178286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solidFill>
                  <a:schemeClr val="accent5"/>
                </a:solidFill>
              </a:rPr>
              <a:t>5,17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C13175-26BC-31E5-C770-4A8788558B9E}"/>
              </a:ext>
            </a:extLst>
          </p:cNvPr>
          <p:cNvSpPr txBox="1"/>
          <p:nvPr/>
        </p:nvSpPr>
        <p:spPr>
          <a:xfrm>
            <a:off x="6990419" y="3860721"/>
            <a:ext cx="14638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solidFill>
                  <a:schemeClr val="accent5"/>
                </a:solidFill>
              </a:rPr>
              <a:t>Tỷ</a:t>
            </a:r>
            <a:r>
              <a:rPr lang="en-US" sz="3200" dirty="0">
                <a:solidFill>
                  <a:schemeClr val="accent5"/>
                </a:solidFill>
              </a:rPr>
              <a:t> VND</a:t>
            </a:r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BF6AF550-0FE3-1B12-CD74-9611520C1FF4}"/>
              </a:ext>
            </a:extLst>
          </p:cNvPr>
          <p:cNvSpPr/>
          <p:nvPr/>
        </p:nvSpPr>
        <p:spPr>
          <a:xfrm>
            <a:off x="6750801" y="4895850"/>
            <a:ext cx="600075" cy="517306"/>
          </a:xfrm>
          <a:prstGeom prst="triangl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755AA1-7F76-1D0E-F230-3758CBDE2FE4}"/>
              </a:ext>
            </a:extLst>
          </p:cNvPr>
          <p:cNvSpPr txBox="1"/>
          <p:nvPr/>
        </p:nvSpPr>
        <p:spPr>
          <a:xfrm>
            <a:off x="7444871" y="4986020"/>
            <a:ext cx="1250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</a:rPr>
              <a:t>+ 27,4%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02A94E-DE56-5245-887E-C50DA928086B}"/>
              </a:ext>
            </a:extLst>
          </p:cNvPr>
          <p:cNvSpPr txBox="1"/>
          <p:nvPr/>
        </p:nvSpPr>
        <p:spPr>
          <a:xfrm>
            <a:off x="6604897" y="5494178"/>
            <a:ext cx="20906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so với T4/2024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AA0299-391C-80D0-89F8-498019220363}"/>
              </a:ext>
            </a:extLst>
          </p:cNvPr>
          <p:cNvSpPr txBox="1"/>
          <p:nvPr/>
        </p:nvSpPr>
        <p:spPr>
          <a:xfrm>
            <a:off x="9676364" y="2886075"/>
            <a:ext cx="178286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solidFill>
                  <a:schemeClr val="accent2"/>
                </a:solidFill>
              </a:rPr>
              <a:t>2,89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FC8088-D8BD-1C26-A63C-5F490F559B66}"/>
              </a:ext>
            </a:extLst>
          </p:cNvPr>
          <p:cNvSpPr txBox="1"/>
          <p:nvPr/>
        </p:nvSpPr>
        <p:spPr>
          <a:xfrm>
            <a:off x="9835863" y="3860721"/>
            <a:ext cx="14638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solidFill>
                  <a:schemeClr val="accent2"/>
                </a:solidFill>
              </a:rPr>
              <a:t>Tỷ</a:t>
            </a:r>
            <a:r>
              <a:rPr lang="en-US" sz="3200" dirty="0">
                <a:solidFill>
                  <a:schemeClr val="accent2"/>
                </a:solidFill>
              </a:rPr>
              <a:t> VND</a:t>
            </a:r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F68C9CF8-59ED-10D8-3955-2AF3C2DE4BF3}"/>
              </a:ext>
            </a:extLst>
          </p:cNvPr>
          <p:cNvSpPr/>
          <p:nvPr/>
        </p:nvSpPr>
        <p:spPr>
          <a:xfrm>
            <a:off x="9596245" y="4895850"/>
            <a:ext cx="600075" cy="517306"/>
          </a:xfrm>
          <a:prstGeom prst="triangl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5704D9-686A-4A6E-6A7B-A55D6F9CE6A4}"/>
              </a:ext>
            </a:extLst>
          </p:cNvPr>
          <p:cNvSpPr txBox="1"/>
          <p:nvPr/>
        </p:nvSpPr>
        <p:spPr>
          <a:xfrm>
            <a:off x="10290315" y="4986020"/>
            <a:ext cx="1250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+ 31,2%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B881FF-1919-FDAE-129E-60E2E4A48D79}"/>
              </a:ext>
            </a:extLst>
          </p:cNvPr>
          <p:cNvSpPr txBox="1"/>
          <p:nvPr/>
        </p:nvSpPr>
        <p:spPr>
          <a:xfrm>
            <a:off x="9450341" y="5494178"/>
            <a:ext cx="20906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so với T4/2024</a:t>
            </a:r>
          </a:p>
        </p:txBody>
      </p:sp>
    </p:spTree>
    <p:extLst>
      <p:ext uri="{BB962C8B-B14F-4D97-AF65-F5344CB8AC3E}">
        <p14:creationId xmlns:p14="http://schemas.microsoft.com/office/powerpoint/2010/main" val="391259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82D6381-77AA-C856-5665-E08658578B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9454058"/>
              </p:ext>
            </p:extLst>
          </p:nvPr>
        </p:nvGraphicFramePr>
        <p:xfrm>
          <a:off x="317499" y="719666"/>
          <a:ext cx="4740275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1043E024-8C90-31E9-E04A-685FDB9D52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9023671"/>
              </p:ext>
            </p:extLst>
          </p:nvPr>
        </p:nvGraphicFramePr>
        <p:xfrm>
          <a:off x="4756150" y="723899"/>
          <a:ext cx="743585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A2D99E-56DE-43D4-E593-50603B65E332}"/>
              </a:ext>
            </a:extLst>
          </p:cNvPr>
          <p:cNvCxnSpPr/>
          <p:nvPr/>
        </p:nvCxnSpPr>
        <p:spPr>
          <a:xfrm>
            <a:off x="5238750" y="514350"/>
            <a:ext cx="0" cy="599122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5323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76</Words>
  <Application>Microsoft Office PowerPoint</Application>
  <PresentationFormat>Widescreen</PresentationFormat>
  <Paragraphs>34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(Body)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xclanwar pro</dc:creator>
  <cp:lastModifiedBy>xclanwar pro</cp:lastModifiedBy>
  <cp:revision>1</cp:revision>
  <dcterms:created xsi:type="dcterms:W3CDTF">2026-10-26T04:13:03Z</dcterms:created>
  <dcterms:modified xsi:type="dcterms:W3CDTF">2026-10-26T04:21:34Z</dcterms:modified>
</cp:coreProperties>
</file>